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y="5143500" cx="9144000"/>
  <p:notesSz cx="6858000" cy="9144000"/>
  <p:embeddedFontLst>
    <p:embeddedFont>
      <p:font typeface="Raleway"/>
      <p:regular r:id="rId58"/>
      <p:bold r:id="rId59"/>
      <p:italic r:id="rId60"/>
      <p:boldItalic r:id="rId61"/>
    </p:embeddedFont>
    <p:embeddedFont>
      <p:font typeface="Lato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66" roundtripDataSignature="AMtx7mgYZLBNsecJDzFrM8I0c5/sFayt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Lato-regular.fntdata"/><Relationship Id="rId61" Type="http://schemas.openxmlformats.org/officeDocument/2006/relationships/font" Target="fonts/Raleway-boldItalic.fntdata"/><Relationship Id="rId20" Type="http://schemas.openxmlformats.org/officeDocument/2006/relationships/slide" Target="slides/slide15.xml"/><Relationship Id="rId64" Type="http://schemas.openxmlformats.org/officeDocument/2006/relationships/font" Target="fonts/Lato-italic.fntdata"/><Relationship Id="rId63" Type="http://schemas.openxmlformats.org/officeDocument/2006/relationships/font" Target="fonts/Lato-bold.fntdata"/><Relationship Id="rId22" Type="http://schemas.openxmlformats.org/officeDocument/2006/relationships/slide" Target="slides/slide17.xml"/><Relationship Id="rId66" Type="http://customschemas.google.com/relationships/presentationmetadata" Target="metadata"/><Relationship Id="rId21" Type="http://schemas.openxmlformats.org/officeDocument/2006/relationships/slide" Target="slides/slide16.xml"/><Relationship Id="rId65" Type="http://schemas.openxmlformats.org/officeDocument/2006/relationships/font" Target="fonts/Lato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aleway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Raleway-bold.fntdata"/><Relationship Id="rId14" Type="http://schemas.openxmlformats.org/officeDocument/2006/relationships/slide" Target="slides/slide9.xml"/><Relationship Id="rId58" Type="http://schemas.openxmlformats.org/officeDocument/2006/relationships/font" Target="fonts/Raleway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e0ff47a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ee0ff47a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e0ff47ab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ee0ff47ab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e0ff47ab5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ee0ff47ab5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e0ff47a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ee0ff47a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e0ff47ab5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ee0ff47ab5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e0ff47ab5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ee0ff47ab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e0ff47ab5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ee0ff47ab5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e0ff47ab5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ee0ff47ab5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e0ff47ab5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ee0ff47ab5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e0ff47ab5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ee0ff47ab5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e0ff47ab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ee0ff47ab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ee0ff47ab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ee0ff47ab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ee0ff47ab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3ee0ff47ab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ee0ff47ab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ee0ff47ab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e0ff47ab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3ee0ff47ab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ee0ff47ab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ee0ff47ab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ee0ff47ab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3ee0ff47ab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ee0ff47ab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3ee0ff47ab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ee0ff47ab5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ee0ff47ab5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ee0ff47ab5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ee0ff47ab5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ee0ff47ab5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ee0ff47ab5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ee0ff47ab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ee0ff47ab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ee0ff47ab5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g3ee0ff47ab5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ee0ff47ab5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g3ee0ff47ab5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ee0ff47ab5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g3ee0ff47ab5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e0ff47ab5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ee0ff47ab5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e0ff47ab5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g3ee0ff47ab5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3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3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3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3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3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3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3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6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36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7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38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38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9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40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40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9450" y="1663028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5000"/>
              <a:buNone/>
            </a:pPr>
            <a:r>
              <a:rPr lang="el" sz="4000"/>
              <a:t>Εισαγωγή στη Μηχανική Μάθηση</a:t>
            </a:r>
            <a:endParaRPr sz="4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4348"/>
              <a:buNone/>
            </a:pPr>
            <a:r>
              <a:t/>
            </a:r>
            <a:endParaRPr sz="2556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7273"/>
              <a:buNone/>
            </a:pPr>
            <a:r>
              <a:rPr i="1" lang="el" sz="3300"/>
              <a:t>Neural Networks</a:t>
            </a:r>
            <a:endParaRPr sz="3300"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452" y="3426089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l"/>
              <a:t>Αρχιμήδης, Ερευνητικό Κέντρο «Αθηνά»</a:t>
            </a:r>
            <a:endParaRPr/>
          </a:p>
        </p:txBody>
      </p:sp>
      <p:pic>
        <p:nvPicPr>
          <p:cNvPr id="88" name="Google Shape;88;p1" title="archimedes_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625" y="4044450"/>
            <a:ext cx="2220118" cy="6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 title="athenarc_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35398" y="4073981"/>
            <a:ext cx="2982153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(1/4) Τι είναι τα Νευρωνικά Δίκτυα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7344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13"/>
              <a:buChar char="●"/>
            </a:pPr>
            <a:r>
              <a:rPr lang="el" sz="1713"/>
              <a:t>Ένα νευρωνικό δίκτυο είναι μοντέλο πρόβλεψης</a:t>
            </a:r>
            <a:endParaRPr sz="1713"/>
          </a:p>
          <a:p>
            <a:pPr indent="-337344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13"/>
              <a:buChar char="●"/>
            </a:pPr>
            <a:r>
              <a:rPr lang="el" sz="1713"/>
              <a:t>Εμπνευσμένο από τον ανθρώπινο εγκέφαλο</a:t>
            </a:r>
            <a:endParaRPr sz="1713"/>
          </a:p>
          <a:p>
            <a:pPr indent="-337344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13"/>
              <a:buChar char="●"/>
            </a:pPr>
            <a:r>
              <a:rPr lang="el" sz="1713"/>
              <a:t>Αποτελείται από μικρές μονάδες που λέγονται νευρώνες</a:t>
            </a:r>
            <a:endParaRPr sz="1713"/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l" sz="1713"/>
              <a:t>Κεντρική ιδέα:</a:t>
            </a:r>
            <a:endParaRPr sz="1713"/>
          </a:p>
          <a:p>
            <a:pPr indent="-337344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13"/>
              <a:buChar char="●"/>
            </a:pPr>
            <a:r>
              <a:rPr lang="el" sz="1713"/>
              <a:t>Πολλά απλά μέρη → έξυπνη συμπεριφορά</a:t>
            </a:r>
            <a:endParaRPr sz="1713"/>
          </a:p>
        </p:txBody>
      </p:sp>
      <p:sp>
        <p:nvSpPr>
          <p:cNvPr id="96" name="Google Shape;9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(2/4) Τι είναι τα Νευρωνικά Δίκτυα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313"/>
          </a:p>
        </p:txBody>
      </p:sp>
      <p:sp>
        <p:nvSpPr>
          <p:cNvPr id="103" name="Google Shape;103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104" name="Google Shape;104;p3" title="Στιγμιότυπο οθόνης 2025-12-24 00144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650" y="2189485"/>
            <a:ext cx="7688699" cy="2039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(3/4) Τι είναι τα Νευρωνικά Δίκτυα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l" sz="1700"/>
              <a:t>Ένα ΝΔ αποτελείται από: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Είσοδοι: τα δεδομένα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Βάρη: πόσο σημαντική είναι κάθε είσοδος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Έξοδος: η τελική απόφαση</a:t>
            </a:r>
            <a:endParaRPr sz="1700"/>
          </a:p>
        </p:txBody>
      </p:sp>
      <p:sp>
        <p:nvSpPr>
          <p:cNvPr id="111" name="Google Shape;111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(4/4) Τι είναι τα Νευρωνικά Δίκτυα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8063" y="2101451"/>
            <a:ext cx="4427875" cy="221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Παράδειγμα - Πρόβλεψη επιτυχίας σε εξετάσεις </a:t>
            </a:r>
            <a:endParaRPr/>
          </a:p>
        </p:txBody>
      </p:sp>
      <p:sp>
        <p:nvSpPr>
          <p:cNvPr id="125" name="Google Shape;125;p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l" sz="1700"/>
              <a:t>Δεδομένα: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Ώρες διαβάσματος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Ύπνος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Συμμετοχή στο μάθημα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l" sz="1700"/>
              <a:t>Ζητούμενο: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πέρασε ή όχι την τάξη</a:t>
            </a:r>
            <a:endParaRPr sz="1700"/>
          </a:p>
        </p:txBody>
      </p:sp>
      <p:sp>
        <p:nvSpPr>
          <p:cNvPr id="126" name="Google Shape;12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</a:t>
            </a:r>
            <a:r>
              <a:rPr lang="el"/>
              <a:t>1/2</a:t>
            </a:r>
            <a:r>
              <a:rPr lang="el"/>
              <a:t>) Τι Προβλήματα Λύνουν</a:t>
            </a:r>
            <a:endParaRPr/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l" sz="1700"/>
              <a:t>Μπορούν να λύσουν προβλήματα:</a:t>
            </a:r>
            <a:endParaRPr sz="1700"/>
          </a:p>
          <a:p>
            <a:pPr indent="-3365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Παλινδρόμησης</a:t>
            </a:r>
            <a:endParaRPr sz="1700"/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Ταξινόμησης</a:t>
            </a:r>
            <a:endParaRPr sz="1700"/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Συσταδοποίησης</a:t>
            </a:r>
            <a:endParaRPr sz="1700"/>
          </a:p>
        </p:txBody>
      </p:sp>
      <p:sp>
        <p:nvSpPr>
          <p:cNvPr id="133" name="Google Shape;133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e0ff47ab5_0_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(2/2) Τι Προβλήματα Λύνουν</a:t>
            </a:r>
            <a:endParaRPr/>
          </a:p>
        </p:txBody>
      </p:sp>
      <p:sp>
        <p:nvSpPr>
          <p:cNvPr id="139" name="Google Shape;139;g3ee0ff47ab5_0_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700"/>
              <a:t>Στη γενικότητα η μέθοδος είναι η ίδια αλλά προσαρμόζεται κάθε φορά στις εφαρμογές, όπως </a:t>
            </a:r>
            <a:endParaRPr sz="1700"/>
          </a:p>
          <a:p>
            <a:pPr indent="-3365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Ταξινόμηση εικόνας (άνθρωπος ή σκύλος)</a:t>
            </a:r>
            <a:endParaRPr sz="1700"/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Επεξεργασία φυσικής γλώσσας (μετάφραση)</a:t>
            </a:r>
            <a:endParaRPr sz="1700"/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Μετατροπή φωνής σε κείμενο (υπότιτλοι)</a:t>
            </a:r>
            <a:endParaRPr sz="1700"/>
          </a:p>
        </p:txBody>
      </p:sp>
      <p:sp>
        <p:nvSpPr>
          <p:cNvPr id="140" name="Google Shape;140;g3ee0ff47ab5_0_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Παράδειγμα Αναγνώριση Εικόνας</a:t>
            </a:r>
            <a:endParaRPr/>
          </a:p>
        </p:txBody>
      </p:sp>
      <p:sp>
        <p:nvSpPr>
          <p:cNvPr id="146" name="Google Shape;146;p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Είσοδος: pixel εικόνας</a:t>
            </a:r>
            <a:endParaRPr sz="1700"/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Κρυφά επίπεδα: ανιχνεύουν σχήματα</a:t>
            </a:r>
            <a:endParaRPr sz="1700"/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Έξοδος: «γάτα» ή «σκύλος»</a:t>
            </a:r>
            <a:endParaRPr sz="1700"/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Ιδέα: Κάθε επίπεδο καταλαβαίνει κάτι πιο σύνθετο.</a:t>
            </a:r>
            <a:endParaRPr sz="1700"/>
          </a:p>
        </p:txBody>
      </p:sp>
      <p:sp>
        <p:nvSpPr>
          <p:cNvPr id="147" name="Google Shape;147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(1/2) Αρχιτεκτονική ενός Νευρωνικού Δικτύου (MLP)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155" name="Google Shape;1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8325" y="1740625"/>
            <a:ext cx="5687352" cy="319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(2/2) Αρχιτεκτονική ενός Νευρωνικού Δικτύου (MLP)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61" name="Google Shape;161;p1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163" name="Google Shape;163;p10" title="Στιγμιότυπο οθόνης 2025-12-23 22515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8024" y="2161725"/>
            <a:ext cx="4807950" cy="20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(1/3) Είσοδος (X</a:t>
            </a:r>
            <a:r>
              <a:rPr baseline="-25000" lang="el"/>
              <a:t>i</a:t>
            </a:r>
            <a:r>
              <a:rPr lang="el"/>
              <a:t>)</a:t>
            </a:r>
            <a:endParaRPr/>
          </a:p>
        </p:txBody>
      </p:sp>
      <p:sp>
        <p:nvSpPr>
          <p:cNvPr id="169" name="Google Shape;169;p1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Είναι αριθμός ή λίστα αριθμών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Περιγράφουν τα χαρακτηριστικά ενός αντικειμένου ή φαινομένου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Κάθε αριθμός αντιστοιχεί σε μία πληροφορία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Οι είσοδοι είναι τα δεδομένα που δίνουμε στο νευρωνικό δίκτυο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Από τις εισόδους, το μοντέλο προσπαθεί να κάνει πρόβλεψη</a:t>
            </a:r>
            <a:endParaRPr sz="1700"/>
          </a:p>
        </p:txBody>
      </p:sp>
      <p:sp>
        <p:nvSpPr>
          <p:cNvPr id="170" name="Google Shape;170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e0ff47ab5_0_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(2/3) Είσοδος (X</a:t>
            </a:r>
            <a:r>
              <a:rPr baseline="-25000" lang="el"/>
              <a:t>i</a:t>
            </a:r>
            <a:r>
              <a:rPr lang="el"/>
              <a:t>)</a:t>
            </a:r>
            <a:endParaRPr/>
          </a:p>
        </p:txBody>
      </p:sp>
      <p:sp>
        <p:nvSpPr>
          <p:cNvPr id="176" name="Google Shape;176;g3ee0ff47ab5_0_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l" sz="1700"/>
              <a:t>Υπενθύμιση: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Το νευρωνικό δίκτυο δεν βλέπει λέξεις, μόνο αριθμούς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Ακόμα και εικόνες ή ήχοι μετατρέπονται σε αριθμούς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Όσο καλύτερες οι είσοδοι, τόσο καλύτερη η πρόβλεψη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700"/>
          </a:p>
        </p:txBody>
      </p:sp>
      <p:sp>
        <p:nvSpPr>
          <p:cNvPr id="177" name="Google Shape;177;g3ee0ff47ab5_0_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(3/3) Είσοδος (X</a:t>
            </a:r>
            <a:r>
              <a:rPr baseline="-25000" lang="el"/>
              <a:t>i</a:t>
            </a:r>
            <a:r>
              <a:rPr lang="el"/>
              <a:t>)</a:t>
            </a:r>
            <a:endParaRPr/>
          </a:p>
        </p:txBody>
      </p:sp>
      <p:sp>
        <p:nvSpPr>
          <p:cNvPr id="183" name="Google Shape;183;p1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Στόχος πρόβλεψης: ηλικία ατόμου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Είσοδοι (χαρακτηριστικά):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Ύψος (cm)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Βάρος (kg)</a:t>
            </a:r>
            <a:endParaRPr sz="1700"/>
          </a:p>
        </p:txBody>
      </p:sp>
      <p:sp>
        <p:nvSpPr>
          <p:cNvPr id="184" name="Google Shape;184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(1/2) Βάρη (W</a:t>
            </a:r>
            <a:r>
              <a:rPr baseline="-25000" lang="el"/>
              <a:t>i</a:t>
            </a:r>
            <a:r>
              <a:rPr lang="el"/>
              <a:t>)</a:t>
            </a:r>
            <a:endParaRPr/>
          </a:p>
        </p:txBody>
      </p:sp>
      <p:sp>
        <p:nvSpPr>
          <p:cNvPr id="190" name="Google Shape;190;p1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Δείχνουν πόσο σημαντική είναι κάθε είσοδος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Είναι αριθμοί (π.χ. 0.2, 1.5, −0.8)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Μεγαλύτερο βάρος → μεγαλύτερη επιρροή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Δεν είναι προκαθορισμένα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Μαθαίνονται αυτόματα κατά την εκπαίδευση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l" sz="1700"/>
              <a:t>Στόχος: να κάνει το μοντέλο όσο το δυνατόν καλύτερες προβλέψεις</a:t>
            </a:r>
            <a:endParaRPr sz="1700"/>
          </a:p>
        </p:txBody>
      </p:sp>
      <p:sp>
        <p:nvSpPr>
          <p:cNvPr id="191" name="Google Shape;191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(2/2) Βάρη (W</a:t>
            </a:r>
            <a:r>
              <a:rPr baseline="-25000" lang="el"/>
              <a:t>i</a:t>
            </a:r>
            <a:r>
              <a:rPr lang="el"/>
              <a:t>)</a:t>
            </a:r>
            <a:endParaRPr/>
          </a:p>
        </p:txBody>
      </p:sp>
      <p:sp>
        <p:nvSpPr>
          <p:cNvPr id="197" name="Google Shape;197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Τα βάρη λένε στο νευρωνικό δίκτυο: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«Αυτή η πληροφορία μετράει πολύ, αυτή λιγότερο»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Στην αρχή είναι τυχαία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Μετά από κάθε λάθος πρόβλεψη: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κάποια βάρη αυξάνονται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κάποια μειώνονται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Έτσι το δίκτυο βελτιώνεται σιγά-σιγά</a:t>
            </a:r>
            <a:endParaRPr sz="1700"/>
          </a:p>
        </p:txBody>
      </p:sp>
      <p:sp>
        <p:nvSpPr>
          <p:cNvPr id="198" name="Google Shape;198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(1/2) Συναρτήσεις Ενεργοποίησης</a:t>
            </a:r>
            <a:endParaRPr/>
          </a:p>
        </p:txBody>
      </p:sp>
      <p:sp>
        <p:nvSpPr>
          <p:cNvPr id="204" name="Google Shape;204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Αποφασίζουν αν «ενεργοποιείται» ένας νευρώνας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Επιτρέπουν σύνθετη συμπεριφορά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Παραδείγματα: ReLU, sigmoid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l" sz="1700"/>
              <a:t>Ιδέα: 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Σαν διακόπτης: αν το σήμα είναι αρκετά δυνατό → ενεργοποιείται</a:t>
            </a:r>
            <a:endParaRPr sz="1700"/>
          </a:p>
        </p:txBody>
      </p:sp>
      <p:sp>
        <p:nvSpPr>
          <p:cNvPr id="205" name="Google Shape;205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(2/2) Συναρτήσεις Ενεργοποίησης</a:t>
            </a:r>
            <a:endParaRPr/>
          </a:p>
        </p:txBody>
      </p:sp>
      <p:sp>
        <p:nvSpPr>
          <p:cNvPr id="211" name="Google Shape;211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12" name="Google Shape;212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213" name="Google Shape;2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1287" y="1853850"/>
            <a:ext cx="5468436" cy="328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Επανάληψη</a:t>
            </a:r>
            <a:endParaRPr/>
          </a:p>
        </p:txBody>
      </p:sp>
      <p:sp>
        <p:nvSpPr>
          <p:cNvPr id="219" name="Google Shape;219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20" name="Google Shape;220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221" name="Google Shape;2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7887" y="2030077"/>
            <a:ext cx="5848226" cy="271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(1/2) Συνάρτηση Απώλειας (Loss Function)</a:t>
            </a:r>
            <a:endParaRPr/>
          </a:p>
        </p:txBody>
      </p:sp>
      <p:sp>
        <p:nvSpPr>
          <p:cNvPr id="227" name="Google Shape;22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Μετρά πόσο λάθος είναι η πρόβλεψη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Μικρότερη απώλεια = καλύτερη πρόβλεψη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l" sz="1700"/>
              <a:t>Παράδειγμα: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Πρόβλεψη: 80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Πραγματικό: 90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Σφάλμα: 10</a:t>
            </a:r>
            <a:endParaRPr sz="1700"/>
          </a:p>
        </p:txBody>
      </p:sp>
      <p:sp>
        <p:nvSpPr>
          <p:cNvPr id="228" name="Google Shape;228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(2/2) Συνάρτηση Απώλειας </a:t>
            </a:r>
            <a:r>
              <a:rPr lang="el"/>
              <a:t>(Loss Function)</a:t>
            </a:r>
            <a:endParaRPr/>
          </a:p>
        </p:txBody>
      </p:sp>
      <p:sp>
        <p:nvSpPr>
          <p:cNvPr id="234" name="Google Shape;234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l" sz="1700"/>
              <a:t>Προβλήματα regression: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loss = πόσο έξω έπεσες στο στόχο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|πρόβλεψη - πραγματική τιμή|</a:t>
            </a:r>
            <a:endParaRPr baseline="30000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l" sz="1700"/>
              <a:t>Προβλήματα classification: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loss = εάν βρήκες την σωστή κατηγορία ή όχι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1 (σωστή πρόβλεψη) αλλιώς 0 (λάθος πρόβλεψη)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l" sz="1700"/>
              <a:t>Σημείωση: Στην πράξη χρησιμοποιούμε λίγο διαφοροποιημένα losses</a:t>
            </a:r>
            <a:endParaRPr sz="1700"/>
          </a:p>
        </p:txBody>
      </p:sp>
      <p:sp>
        <p:nvSpPr>
          <p:cNvPr id="235" name="Google Shape;235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</a:t>
            </a:r>
            <a:r>
              <a:rPr lang="el"/>
              <a:t>1/2</a:t>
            </a:r>
            <a:r>
              <a:rPr lang="el"/>
              <a:t>) Τρ</a:t>
            </a:r>
            <a:r>
              <a:rPr lang="el"/>
              <a:t>όπος Εκπαίδευσης - </a:t>
            </a:r>
            <a:r>
              <a:rPr lang="el"/>
              <a:t>Μ</a:t>
            </a:r>
            <a:r>
              <a:rPr lang="el"/>
              <a:t>έθοδος </a:t>
            </a:r>
            <a:r>
              <a:rPr lang="el"/>
              <a:t>Perceptron</a:t>
            </a:r>
            <a:endParaRPr/>
          </a:p>
        </p:txBody>
      </p:sp>
      <p:sp>
        <p:nvSpPr>
          <p:cNvPr id="241" name="Google Shape;241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Χρησιμοποιείται για </a:t>
            </a:r>
            <a:r>
              <a:rPr lang="el" sz="1700"/>
              <a:t>είναι ένα απλό νευρωνικό μοντέλο για προβλ</a:t>
            </a:r>
            <a:r>
              <a:rPr lang="el" sz="1700"/>
              <a:t>ήματα </a:t>
            </a:r>
            <a:r>
              <a:rPr lang="el" sz="1700"/>
              <a:t>classification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Εκπαιδεύεται με Σταδιακή Μάθηση, δηλαδή 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Μαθαίνει ένα παράδειγμα κάθε φορά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Αλλάζει τα βάρη αμέσως αν κάνει λάθος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Δεν χρειάζεται να περιμένει να δει όλα τα δεδομένα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Σιγά-σιγά, βελτιώνεται και κάνει λιγότερα λάθη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Δεν χρησιμοποιε</a:t>
            </a:r>
            <a:r>
              <a:rPr lang="el" sz="1700"/>
              <a:t>ί παραγώγους για την ανανέωση των βαρών</a:t>
            </a:r>
            <a:endParaRPr sz="1700"/>
          </a:p>
        </p:txBody>
      </p:sp>
      <p:sp>
        <p:nvSpPr>
          <p:cNvPr id="242" name="Google Shape;242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e0ff47ab5_0_20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(2/2) Τρόπος Εκπαίδευσης - Μέθοδος Perceptron</a:t>
            </a:r>
            <a:endParaRPr/>
          </a:p>
        </p:txBody>
      </p:sp>
      <p:sp>
        <p:nvSpPr>
          <p:cNvPr id="248" name="Google Shape;248;g3ee0ff47ab5_0_20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Είσοδο: x_1, …, x_n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Βάρη: w_1, …, w_n, b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z = w_1*x_1 + … + w_n*x_n + b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Πρόβλεψη: ŷ = f(z) </a:t>
            </a:r>
            <a:endParaRPr sz="1700"/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700"/>
              <a:t>1, if z &gt;= 0 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f(z) = </a:t>
            </a:r>
            <a:endParaRPr sz="1700"/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700"/>
              <a:t>0, if z &lt; 0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w_new = w_old + η(y - </a:t>
            </a:r>
            <a:r>
              <a:rPr lang="el" sz="1700"/>
              <a:t>ŷ</a:t>
            </a:r>
            <a:r>
              <a:rPr lang="el" sz="1700"/>
              <a:t>)x</a:t>
            </a:r>
            <a:endParaRPr sz="1700"/>
          </a:p>
        </p:txBody>
      </p:sp>
      <p:sp>
        <p:nvSpPr>
          <p:cNvPr id="249" name="Google Shape;249;g3ee0ff47ab5_0_20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sp>
        <p:nvSpPr>
          <p:cNvPr id="250" name="Google Shape;250;g3ee0ff47ab5_0_203"/>
          <p:cNvSpPr/>
          <p:nvPr/>
        </p:nvSpPr>
        <p:spPr>
          <a:xfrm>
            <a:off x="1812100" y="3339324"/>
            <a:ext cx="276900" cy="648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(1/4) Τρόπος Εκπαίδευσης - Χρ</a:t>
            </a:r>
            <a:r>
              <a:rPr lang="el"/>
              <a:t>ήση Παραγώγων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Δίνουμε στο μοντέλο πολλά παραδείγματα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Κάθε παράδειγμα έχει: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είσοδο (δεδομένα)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σωστή απάντηση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Το μοντέλο κάνει μια πρόβλεψη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Υπολογίζουμε το loss (πόσο λάθος έκανε)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Τα βάρη διορθώνονται λίγο-λίγο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Η διαδικασία επαναλαμβάνεται πολλές φορές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Στόχος: όλο και καλύτερες προβλέψεις</a:t>
            </a:r>
            <a:endParaRPr sz="1700"/>
          </a:p>
        </p:txBody>
      </p:sp>
      <p:sp>
        <p:nvSpPr>
          <p:cNvPr id="257" name="Google Shape;25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</a:t>
            </a:r>
            <a:r>
              <a:rPr lang="el"/>
              <a:t>2/4</a:t>
            </a:r>
            <a:r>
              <a:rPr lang="el"/>
              <a:t>) Τρόπος Εκπαίδευσης </a:t>
            </a:r>
            <a:r>
              <a:rPr lang="el"/>
              <a:t>- Χρήση Παραγώγων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Ξεκινάμε με τυχαία βάρη</a:t>
            </a:r>
            <a:endParaRPr sz="1700"/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Το μοντέλο κάνει μια πρόβλεψη</a:t>
            </a:r>
            <a:endParaRPr sz="1700"/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Υπολογίζουμε το loss (πόσο λάθος έκανε)</a:t>
            </a:r>
            <a:endParaRPr sz="1700"/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Το Gradient Descent μας δείχνει προς ποια κατεύθυνση να αλλάξουμε τα βάρη</a:t>
            </a:r>
            <a:endParaRPr sz="1700"/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Αλλάζουμε τα βάρη λίγο-λίγο</a:t>
            </a:r>
            <a:endParaRPr sz="1700"/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Επαναλαμβάνουμε τη διαδικασία πολλές φορές</a:t>
            </a:r>
            <a:endParaRPr sz="1700"/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Στόχος: το loss να γίνει όσο το δυνατόν μικρότερο</a:t>
            </a:r>
            <a:endParaRPr sz="1700"/>
          </a:p>
        </p:txBody>
      </p:sp>
      <p:sp>
        <p:nvSpPr>
          <p:cNvPr id="264" name="Google Shape;264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(3/4) Τρόπος Εκπαίδευσης</a:t>
            </a:r>
            <a:r>
              <a:rPr lang="el"/>
              <a:t> - Χρήση Παραγώγων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70" name="Google Shape;270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71" name="Google Shape;271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272" name="Google Shape;27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4850" y="1979950"/>
            <a:ext cx="3954276" cy="306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ee0ff47ab5_0_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(4/4) Τρόπος Εκπαίδευσης</a:t>
            </a:r>
            <a:r>
              <a:rPr lang="el"/>
              <a:t> - Χρήση Παραγώγων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78" name="Google Shape;278;g3ee0ff47ab5_0_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Forward Pass: Υπολογίζουμε την πρόβλεψη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Loss Calculation: Υπολογίζουμε το σφάλμα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Backpropagation: Υπολογίζουμε τις παραγώγους του σφάλματος ως προς κάθε βάρος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Gradient Descent: Ενημερώνουμε τα βάρη χρησιμοποιώντας αυτές τις παραγώγους</a:t>
            </a:r>
            <a:endParaRPr sz="1700"/>
          </a:p>
        </p:txBody>
      </p:sp>
      <p:sp>
        <p:nvSpPr>
          <p:cNvPr id="279" name="Google Shape;279;g3ee0ff47ab5_0_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e0ff47ab5_0_17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Gradient Descent</a:t>
            </a:r>
            <a:endParaRPr/>
          </a:p>
        </p:txBody>
      </p:sp>
      <p:sp>
        <p:nvSpPr>
          <p:cNvPr id="285" name="Google Shape;285;g3ee0ff47ab5_0_17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w_new = w_old - η*grad_w(Loss)</a:t>
            </a:r>
            <a:endParaRPr sz="1700"/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Loss = ½ (ŷ -  y)^2</a:t>
            </a:r>
            <a:endParaRPr sz="1700"/>
          </a:p>
        </p:txBody>
      </p:sp>
      <p:sp>
        <p:nvSpPr>
          <p:cNvPr id="286" name="Google Shape;286;g3ee0ff47ab5_0_17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287" name="Google Shape;287;g3ee0ff47ab5_0_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9025" y="1853850"/>
            <a:ext cx="2629125" cy="301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e0ff47ab5_0_1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(</a:t>
            </a:r>
            <a:r>
              <a:rPr lang="el"/>
              <a:t>1/4</a:t>
            </a:r>
            <a:r>
              <a:rPr lang="el"/>
              <a:t>) </a:t>
            </a:r>
            <a:r>
              <a:rPr lang="el"/>
              <a:t>Convergence &amp; Learning Rates</a:t>
            </a:r>
            <a:endParaRPr/>
          </a:p>
        </p:txBody>
      </p:sp>
      <p:sp>
        <p:nvSpPr>
          <p:cNvPr id="293" name="Google Shape;293;g3ee0ff47ab5_0_1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Σ</a:t>
            </a:r>
            <a:r>
              <a:rPr lang="el" sz="1700"/>
              <a:t>ύγκλιση/Convergence: 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Όταν το μοντέλο σταθεροποιείται σε μια καλή λύση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Πώς το καταλαβαίνουμε</a:t>
            </a:r>
            <a:r>
              <a:rPr lang="el" sz="1700"/>
              <a:t>; 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Το loss σταματά να μειώνεται σημαντικά</a:t>
            </a:r>
            <a:endParaRPr/>
          </a:p>
        </p:txBody>
      </p:sp>
      <p:sp>
        <p:nvSpPr>
          <p:cNvPr id="294" name="Google Shape;294;g3ee0ff47ab5_0_1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e0ff47ab5_0_15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(2/4) Convergence &amp; Learning Rates</a:t>
            </a:r>
            <a:endParaRPr/>
          </a:p>
        </p:txBody>
      </p:sp>
      <p:sp>
        <p:nvSpPr>
          <p:cNvPr id="300" name="Google Shape;300;g3ee0ff47ab5_0_15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ee0ff47ab5_0_15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302" name="Google Shape;302;g3ee0ff47ab5_0_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3409" y="1941326"/>
            <a:ext cx="3817190" cy="293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ee0ff47ab5_0_1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(3/4) Convergence &amp; Learning Rates</a:t>
            </a:r>
            <a:endParaRPr/>
          </a:p>
        </p:txBody>
      </p:sp>
      <p:sp>
        <p:nvSpPr>
          <p:cNvPr id="308" name="Google Shape;308;g3ee0ff47ab5_0_14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Learning Rate (η): το μέγεθος του βήματος σε κάθε ενημέρωση βαρών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Πολύ μικρό → αργή εκπαίδευση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Πολύ μεγάλο → αστάθεια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Συνηθισμένες τιμές: 0.1 / 0.01 / 0.001</a:t>
            </a:r>
            <a:endParaRPr sz="1700"/>
          </a:p>
        </p:txBody>
      </p:sp>
      <p:sp>
        <p:nvSpPr>
          <p:cNvPr id="309" name="Google Shape;309;g3ee0ff47ab5_0_14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e0ff47ab5_0_16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(4/4) Convergence &amp; Learning Rates</a:t>
            </a:r>
            <a:endParaRPr/>
          </a:p>
        </p:txBody>
      </p:sp>
      <p:sp>
        <p:nvSpPr>
          <p:cNvPr id="315" name="Google Shape;315;g3ee0ff47ab5_0_16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16" name="Google Shape;316;g3ee0ff47ab5_0_16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317" name="Google Shape;317;g3ee0ff47ab5_0_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3513" y="1853850"/>
            <a:ext cx="5976975" cy="299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e0ff47ab5_0_1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Batch Normalization</a:t>
            </a:r>
            <a:endParaRPr/>
          </a:p>
        </p:txBody>
      </p:sp>
      <p:sp>
        <p:nvSpPr>
          <p:cNvPr id="323" name="Google Shape;323;g3ee0ff47ab5_0_13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Τεχνική κανονικοποίησης των ενεργοποιήσεων μέσα στο δίκτυο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Διατηρεί τις τιμές σε ενα πιο σταθερό εύρος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Οφέλη: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Ταχύτερη σύγκλιση 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Μεγαλύτερα learning rates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Καλύτερη απόδοση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Πού τοποθετείται συνήθως;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Μετά από ένα Linear Layer και πριν από την Activation Function</a:t>
            </a:r>
            <a:endParaRPr sz="1700"/>
          </a:p>
        </p:txBody>
      </p:sp>
      <p:sp>
        <p:nvSpPr>
          <p:cNvPr id="324" name="Google Shape;324;g3ee0ff47ab5_0_1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e0ff47ab5_0_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(1/7) </a:t>
            </a:r>
            <a:r>
              <a:rPr lang="el"/>
              <a:t>Παράδειγμα </a:t>
            </a:r>
            <a:r>
              <a:rPr lang="el"/>
              <a:t>Εκπαίδευσης</a:t>
            </a:r>
            <a:endParaRPr/>
          </a:p>
        </p:txBody>
      </p:sp>
      <p:sp>
        <p:nvSpPr>
          <p:cNvPr id="330" name="Google Shape;330;g3ee0ff47ab5_0_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Βήμα 1: το δίκτυο: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είσοδο: x = 2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βάρος:  w = 0.2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πραγματική τιμή:  y = 1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Η πρόβλεψη </a:t>
            </a:r>
            <a:r>
              <a:rPr lang="el" sz="1700"/>
              <a:t>ορίζεται</a:t>
            </a:r>
            <a:r>
              <a:rPr lang="el" sz="1700"/>
              <a:t> ως ŷ = w*x</a:t>
            </a:r>
            <a:endParaRPr sz="1700"/>
          </a:p>
        </p:txBody>
      </p:sp>
      <p:sp>
        <p:nvSpPr>
          <p:cNvPr id="331" name="Google Shape;331;g3ee0ff47ab5_0_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e0ff47ab5_0_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(2/7) </a:t>
            </a:r>
            <a:r>
              <a:rPr lang="el"/>
              <a:t>Παράδειγμα Εκπαίδευσης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337" name="Google Shape;337;g3ee0ff47ab5_0_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Βήμα 2: υπολογισμός Loss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Loss = ½ (</a:t>
            </a:r>
            <a:r>
              <a:rPr lang="el" sz="1700"/>
              <a:t>ŷ</a:t>
            </a:r>
            <a:r>
              <a:rPr lang="el" sz="1700"/>
              <a:t> -  y)^2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Έστω οτι ξεκινάμε με ένα w = 0.2, τότε: </a:t>
            </a:r>
            <a:r>
              <a:rPr lang="el" sz="1700"/>
              <a:t>ŷ = 0.2*2 = 0.4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loss = ½ (0.4 - 1)^2 = 0.18</a:t>
            </a:r>
            <a:endParaRPr sz="1700"/>
          </a:p>
        </p:txBody>
      </p:sp>
      <p:sp>
        <p:nvSpPr>
          <p:cNvPr id="338" name="Google Shape;338;g3ee0ff47ab5_0_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e0ff47ab5_0_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(3/7) </a:t>
            </a:r>
            <a:r>
              <a:rPr lang="el"/>
              <a:t>Παράδειγμα Εκπαίδευσης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344" name="Google Shape;344;g3ee0ff47ab5_0_4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l" sz="1700"/>
              <a:t>Βήμα 3: τι θέλουμε από το Backpropagation;</a:t>
            </a:r>
            <a:endParaRPr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Θέλουμε να βρούμε: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grad_w(L), δηλαδή:</a:t>
            </a:r>
            <a:endParaRPr sz="1700"/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l" sz="1700"/>
              <a:t>Αν αλλάξω λίγο το βάρος, πόσο θα αλλάξει το loss;</a:t>
            </a:r>
            <a:endParaRPr sz="1700"/>
          </a:p>
        </p:txBody>
      </p:sp>
      <p:sp>
        <p:nvSpPr>
          <p:cNvPr id="345" name="Google Shape;345;g3ee0ff47ab5_0_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e0ff47ab5_0_4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(4/7) </a:t>
            </a:r>
            <a:r>
              <a:rPr lang="el"/>
              <a:t>Παράδειγμα Εκπαίδευσης</a:t>
            </a:r>
            <a:endParaRPr/>
          </a:p>
        </p:txBody>
      </p:sp>
      <p:sp>
        <p:nvSpPr>
          <p:cNvPr id="351" name="Google Shape;351;g3ee0ff47ab5_0_4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Βήμα 4: σπάμε το πρόβλημα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Παρατηρούμε ότι:  Το loss εξαρτάται από το prediction → Το prediction εξαρτάται από το βάρος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Άρα χρησιμοποιούμε Chain Rule:</a:t>
            </a:r>
            <a:endParaRPr sz="1700"/>
          </a:p>
          <a:p>
            <a:pPr indent="-3365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l" sz="1700"/>
              <a:t>grad_w(L) = </a:t>
            </a:r>
            <a:r>
              <a:rPr lang="el" sz="1700"/>
              <a:t>grad_ŷ(L) * grad_w(L) 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Αυτό είναι όλο το Backpropagation</a:t>
            </a:r>
            <a:endParaRPr sz="1700"/>
          </a:p>
        </p:txBody>
      </p:sp>
      <p:sp>
        <p:nvSpPr>
          <p:cNvPr id="352" name="Google Shape;352;g3ee0ff47ab5_0_4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ee0ff47ab5_0_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(5/7) </a:t>
            </a:r>
            <a:r>
              <a:rPr lang="el"/>
              <a:t>Παράδειγμα Εκπαίδευσης</a:t>
            </a:r>
            <a:endParaRPr/>
          </a:p>
        </p:txBody>
      </p:sp>
      <p:sp>
        <p:nvSpPr>
          <p:cNvPr id="358" name="Google Shape;358;g3ee0ff47ab5_0_5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Βήμα 5: υπολογισμός παραγώγων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L = ½ (ŷ -  y)^2 → </a:t>
            </a:r>
            <a:r>
              <a:rPr lang="el" sz="1700"/>
              <a:t>grad_</a:t>
            </a:r>
            <a:r>
              <a:rPr lang="el" sz="1700"/>
              <a:t>ŷ</a:t>
            </a:r>
            <a:r>
              <a:rPr lang="el" sz="1700"/>
              <a:t>(L) = </a:t>
            </a:r>
            <a:r>
              <a:rPr lang="el" sz="1700"/>
              <a:t>ŷ</a:t>
            </a:r>
            <a:r>
              <a:rPr lang="el" sz="1700"/>
              <a:t>- y = 0.4 - 1 = -0.6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ŷ</a:t>
            </a:r>
            <a:r>
              <a:rPr lang="el" sz="1700"/>
              <a:t> = w*x → gradt_w(</a:t>
            </a:r>
            <a:r>
              <a:rPr lang="el" sz="1700"/>
              <a:t>ŷ</a:t>
            </a:r>
            <a:r>
              <a:rPr lang="el" sz="1700"/>
              <a:t>) = x = 2 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Συνολικά 2*(-0.6) = -1.2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Το αρνητικό πρόσημο λέει προς ποια κατεύθυνση να κινηθεί το βάρος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Το μέγεθος λέει πόσο έντονη είναι η επίδραση</a:t>
            </a:r>
            <a:endParaRPr sz="1700"/>
          </a:p>
        </p:txBody>
      </p:sp>
      <p:sp>
        <p:nvSpPr>
          <p:cNvPr id="359" name="Google Shape;359;g3ee0ff47ab5_0_5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ee0ff47ab5_0_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(6/7) </a:t>
            </a:r>
            <a:r>
              <a:rPr lang="el"/>
              <a:t>Παράδειγμα Εκπαίδευσης</a:t>
            </a:r>
            <a:endParaRPr/>
          </a:p>
        </p:txBody>
      </p:sp>
      <p:sp>
        <p:nvSpPr>
          <p:cNvPr id="365" name="Google Shape;365;g3ee0ff47ab5_0_1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Β</a:t>
            </a:r>
            <a:r>
              <a:rPr lang="el" sz="1700"/>
              <a:t>ήμα 6: υπολογισμός Gradient Descent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w_new = w - η*grad_w(L)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για η = 0.1, έχουμε </a:t>
            </a:r>
            <a:endParaRPr sz="1700"/>
          </a:p>
          <a:p>
            <a:pPr indent="-3365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l" sz="1700"/>
              <a:t>w_new = 0.2 - 0.1*(-1.2) = 0.32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Στη πράξη χρησιμοποιούμε μια παραλλαγή που λέγεται AdamW</a:t>
            </a:r>
            <a:endParaRPr sz="1700"/>
          </a:p>
        </p:txBody>
      </p:sp>
      <p:sp>
        <p:nvSpPr>
          <p:cNvPr id="366" name="Google Shape;366;g3ee0ff47ab5_0_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e0ff47ab5_0_8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(7/7) Παράδειγμα Εκπαίδευσης</a:t>
            </a:r>
            <a:endParaRPr/>
          </a:p>
        </p:txBody>
      </p:sp>
      <p:sp>
        <p:nvSpPr>
          <p:cNvPr id="372" name="Google Shape;372;g3ee0ff47ab5_0_8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700"/>
              <a:t>Τι πετύχαμε;</a:t>
            </a:r>
            <a:endParaRPr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Το βάρος έγινε: 0.2 →  0.32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Άρα το prediction γίνεται: ŷ = 0.32 * 2 = 0.64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που είναι πιο κοντά στο 1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Το loss μειώθηκε</a:t>
            </a:r>
            <a:endParaRPr sz="1700"/>
          </a:p>
        </p:txBody>
      </p:sp>
      <p:sp>
        <p:nvSpPr>
          <p:cNvPr id="373" name="Google Shape;373;g3ee0ff47ab5_0_8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ee0ff47ab5_0_10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(1/2) Τρόπος Ελέγχου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379" name="Google Shape;379;g3ee0ff47ab5_0_10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Χωρίζουμε τα δεδομένα σε δύο σύνολα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Σύνολο εκπαίδευσης (80%) → χρησιμοποιείται για να μάθει το μοντέλο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Σύνολο ελέγχου (20%) → χρησιμοποιείται για να το δοκιμάσουμε</a:t>
            </a:r>
            <a:endParaRPr sz="1700"/>
          </a:p>
        </p:txBody>
      </p:sp>
      <p:sp>
        <p:nvSpPr>
          <p:cNvPr id="380" name="Google Shape;380;g3ee0ff47ab5_0_10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(2</a:t>
            </a:r>
            <a:r>
              <a:rPr lang="el"/>
              <a:t>/2</a:t>
            </a:r>
            <a:r>
              <a:rPr lang="el"/>
              <a:t>) Τρόπος Ελέγχου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386" name="Google Shape;386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Ελέγχουμε πόσο καλές είναι οι προβλέψεις αν</a:t>
            </a:r>
            <a:r>
              <a:rPr lang="el" sz="1700"/>
              <a:t>άμεσα</a:t>
            </a:r>
            <a:r>
              <a:rPr lang="el" sz="1700"/>
              <a:t> στα δεδομένα που έχει δει σε δεδομένα που δεν έχει ξαναδεί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Θέλουμε να δουλεύει καλά και σε νέα δεδομένα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Έτσι ελέγχουμε αν: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έμαθε πραγματικά,ή 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απλώς απομνημόνευσε</a:t>
            </a:r>
            <a:endParaRPr sz="1700"/>
          </a:p>
        </p:txBody>
      </p:sp>
      <p:sp>
        <p:nvSpPr>
          <p:cNvPr id="387" name="Google Shape;387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ee0ff47ab5_0_19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Overfitting &amp; Underfitting</a:t>
            </a:r>
            <a:endParaRPr/>
          </a:p>
        </p:txBody>
      </p:sp>
      <p:sp>
        <p:nvSpPr>
          <p:cNvPr id="393" name="Google Shape;393;g3ee0ff47ab5_0_19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ee0ff47ab5_0_19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395" name="Google Shape;395;g3ee0ff47ab5_0_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625" y="1602729"/>
            <a:ext cx="6368751" cy="336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ee0ff47ab5_0_1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Dropout Regularization</a:t>
            </a:r>
            <a:endParaRPr/>
          </a:p>
        </p:txBody>
      </p:sp>
      <p:sp>
        <p:nvSpPr>
          <p:cNvPr id="401" name="Google Shape;401;g3ee0ff47ab5_0_11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Τεχνική αποφυγής overfitting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Πώς λειτουργεί;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Σε κάθε iteration απενεργοποιείται τυχαία ένα ποσοστό νευρώνων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Οφέλη: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Το δίκτυο δεν εξαρτάται υπερβολικά από συγκεκριμένους νευρώνες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Καλύτερη γενίκευση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Συνήθεις τιμές: 0.2 / 0.5</a:t>
            </a:r>
            <a:endParaRPr sz="1700"/>
          </a:p>
        </p:txBody>
      </p:sp>
      <p:sp>
        <p:nvSpPr>
          <p:cNvPr id="402" name="Google Shape;402;g3ee0ff47ab5_0_1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e0ff47ab5_0_1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Early Stopping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08" name="Google Shape;408;g3ee0ff47ab5_0_1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Σταματάμε την εκπαίδευση όταν το validation loss αρχίζει να χειροτερεύει.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Στόχος: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Αποφυγή overfitting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Πλεονέκτημα: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Δεν εκπαιδεύουμε περισσότερο από όσο χρειάζεται</a:t>
            </a:r>
            <a:endParaRPr sz="1700"/>
          </a:p>
        </p:txBody>
      </p:sp>
      <p:sp>
        <p:nvSpPr>
          <p:cNvPr id="409" name="Google Shape;409;g3ee0ff47ab5_0_1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ee0ff47ab5_0_1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Weight Decay (λ)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15" name="Google Shape;415;g3ee0ff47ab5_0_1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Ποινή στα πολύ μεγάλα βάρη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w_new = (1 - η*λ)w_old - η*grad_w(Loss)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Στόχος: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Να διατηρούνται τα βάρη μικρά.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l" sz="1700"/>
              <a:t>Αποτέλεσμα: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Πιο απλά μοντέλα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l" sz="1700"/>
              <a:t>Καλύτερη γενίκευση</a:t>
            </a:r>
            <a:endParaRPr sz="1700"/>
          </a:p>
        </p:txBody>
      </p:sp>
      <p:sp>
        <p:nvSpPr>
          <p:cNvPr id="416" name="Google Shape;416;g3ee0ff47ab5_0_1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ee0ff47ab5_0_2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(1/4) </a:t>
            </a:r>
            <a:r>
              <a:rPr lang="el"/>
              <a:t>Adversarial Attacks</a:t>
            </a:r>
            <a:endParaRPr/>
          </a:p>
        </p:txBody>
      </p:sp>
      <p:sp>
        <p:nvSpPr>
          <p:cNvPr id="422" name="Google Shape;422;g3ee0ff47ab5_0_21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7344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13"/>
              <a:buChar char="●"/>
            </a:pPr>
            <a:r>
              <a:rPr lang="el" sz="1713"/>
              <a:t>Adversarial attack = μικρή αλλαγή στην είσοδο</a:t>
            </a:r>
            <a:endParaRPr sz="1713"/>
          </a:p>
          <a:p>
            <a:pPr indent="-33734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13"/>
              <a:buChar char="●"/>
            </a:pPr>
            <a:r>
              <a:rPr lang="el" sz="1713"/>
              <a:t>Η αλλαγή είναι σχεδόν αόρατη για τον άνθρωπο</a:t>
            </a:r>
            <a:endParaRPr sz="1713"/>
          </a:p>
          <a:p>
            <a:pPr indent="-33734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13"/>
              <a:buChar char="●"/>
            </a:pPr>
            <a:r>
              <a:rPr lang="el" sz="1713"/>
              <a:t>Αλλά μπορεί να αλλάξει τελείως την πρόβλεψη του μοντέλου</a:t>
            </a:r>
            <a:endParaRPr sz="1713"/>
          </a:p>
          <a:p>
            <a:pPr indent="-33734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13"/>
              <a:buChar char="●"/>
            </a:pPr>
            <a:r>
              <a:rPr lang="el" sz="1713"/>
              <a:t>Το μοντέλο “μπερδεύεται”</a:t>
            </a:r>
            <a:endParaRPr sz="1713"/>
          </a:p>
        </p:txBody>
      </p:sp>
      <p:sp>
        <p:nvSpPr>
          <p:cNvPr id="423" name="Google Shape;423;g3ee0ff47ab5_0_2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e0ff47ab5_0_29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(2/4) Adversarial Attacks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29" name="Google Shape;429;g3ee0ff47ab5_0_29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737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13"/>
              <a:buChar char="●"/>
            </a:pPr>
            <a:r>
              <a:rPr lang="el" sz="1713"/>
              <a:t>Εικόνα γάτας → προσθέτουμε ελάχιστο “θόρυβο”</a:t>
            </a:r>
            <a:endParaRPr sz="1713"/>
          </a:p>
          <a:p>
            <a:pPr indent="-3373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13"/>
              <a:buChar char="●"/>
            </a:pPr>
            <a:r>
              <a:rPr lang="el" sz="1713"/>
              <a:t>Άνθρωπος: βλέπει ακόμα γάτα</a:t>
            </a:r>
            <a:endParaRPr sz="1713"/>
          </a:p>
          <a:p>
            <a:pPr indent="-3373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13"/>
              <a:buChar char="●"/>
            </a:pPr>
            <a:r>
              <a:rPr lang="el" sz="1713"/>
              <a:t>Νευρωνικό: λέει σκύλος ❌</a:t>
            </a:r>
            <a:endParaRPr sz="1713"/>
          </a:p>
        </p:txBody>
      </p:sp>
      <p:sp>
        <p:nvSpPr>
          <p:cNvPr id="430" name="Google Shape;430;g3ee0ff47ab5_0_29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ee0ff47ab5_0_37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(3/4) Adversarial Attacks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36" name="Google Shape;436;g3ee0ff47ab5_0_37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313"/>
          </a:p>
        </p:txBody>
      </p:sp>
      <p:sp>
        <p:nvSpPr>
          <p:cNvPr id="437" name="Google Shape;437;g3ee0ff47ab5_0_37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438" name="Google Shape;438;g3ee0ff47ab5_0_3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230" y="2078875"/>
            <a:ext cx="5891145" cy="226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ee0ff47ab5_0_4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(4/4) Adversarial Attacks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44" name="Google Shape;444;g3ee0ff47ab5_0_46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l" sz="1713"/>
              <a:t>Πως μπορούν να επιτευχθούν τα attacks:</a:t>
            </a:r>
            <a:endParaRPr sz="1713"/>
          </a:p>
          <a:p>
            <a:pPr indent="-337344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13"/>
              <a:buChar char="●"/>
            </a:pPr>
            <a:r>
              <a:rPr lang="el" sz="1713"/>
              <a:t> Χειροκίνητες αλλαγές pixels</a:t>
            </a:r>
            <a:endParaRPr sz="1713"/>
          </a:p>
          <a:p>
            <a:pPr indent="-337344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13"/>
              <a:buChar char="○"/>
            </a:pPr>
            <a:r>
              <a:rPr lang="el" sz="1713"/>
              <a:t>αλλαγή λίγων τιμών σε συγκεκριμένα σημεία</a:t>
            </a:r>
            <a:endParaRPr sz="1713"/>
          </a:p>
          <a:p>
            <a:pPr indent="-337344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13"/>
              <a:buChar char="○"/>
            </a:pPr>
            <a:r>
              <a:rPr lang="el" sz="1713"/>
              <a:t>π.χ. πολύ μικρές φωτεινότητες ή θόρυβος</a:t>
            </a:r>
            <a:endParaRPr sz="1713"/>
          </a:p>
          <a:p>
            <a:pPr indent="-33734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13"/>
              <a:buChar char="●"/>
            </a:pPr>
            <a:r>
              <a:rPr lang="el" sz="1713"/>
              <a:t>Τυχαίες μικρές αλλαγές</a:t>
            </a:r>
            <a:endParaRPr sz="1713"/>
          </a:p>
          <a:p>
            <a:pPr indent="-337344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13"/>
              <a:buChar char="○"/>
            </a:pPr>
            <a:r>
              <a:rPr lang="el" sz="1713"/>
              <a:t>προσθήκη ελάχιστου θορύβου σε όλη την εικόνα</a:t>
            </a:r>
            <a:endParaRPr sz="1713"/>
          </a:p>
          <a:p>
            <a:pPr indent="-33734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13"/>
              <a:buChar char="●"/>
            </a:pPr>
            <a:r>
              <a:rPr lang="el" sz="1713"/>
              <a:t>Πιο “έξυπνες” / αυτόματες μέθοδοι:</a:t>
            </a:r>
            <a:endParaRPr sz="1713"/>
          </a:p>
          <a:p>
            <a:pPr indent="-33737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13"/>
              <a:buChar char="○"/>
            </a:pPr>
            <a:r>
              <a:rPr lang="el" sz="1713"/>
              <a:t>Fast Gradient Method</a:t>
            </a:r>
            <a:endParaRPr sz="1713"/>
          </a:p>
          <a:p>
            <a:pPr indent="-337344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713"/>
              <a:buChar char="■"/>
            </a:pPr>
            <a:r>
              <a:rPr lang="el" sz="1713"/>
              <a:t>“σπρώχνουμε” την εικόνα ελάχιστα προς την κατεύθυνση που μπερδεύει το μοντέλο</a:t>
            </a:r>
            <a:endParaRPr sz="1713"/>
          </a:p>
        </p:txBody>
      </p:sp>
      <p:sp>
        <p:nvSpPr>
          <p:cNvPr id="445" name="Google Shape;445;g3ee0ff47ab5_0_46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e0ff47ab5_0_5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l"/>
              <a:t>Σ</a:t>
            </a:r>
            <a:r>
              <a:rPr lang="el"/>
              <a:t>ύνοψη</a:t>
            </a:r>
            <a:endParaRPr/>
          </a:p>
        </p:txBody>
      </p:sp>
      <p:sp>
        <p:nvSpPr>
          <p:cNvPr id="451" name="Google Shape;451;g3ee0ff47ab5_0_54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313"/>
          </a:p>
        </p:txBody>
      </p:sp>
      <p:sp>
        <p:nvSpPr>
          <p:cNvPr id="452" name="Google Shape;452;g3ee0ff47ab5_0_54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  <p:pic>
        <p:nvPicPr>
          <p:cNvPr id="453" name="Google Shape;453;g3ee0ff47ab5_0_547" title="Στιγμιότυπο οθόνης 2025-12-24 00144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3925" y="2408714"/>
            <a:ext cx="6036151" cy="160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59" name="Google Shape;459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l"/>
              <a:t>Ευχαριστώ για τη προσοχή σας!</a:t>
            </a:r>
            <a:endParaRPr/>
          </a:p>
        </p:txBody>
      </p:sp>
      <p:sp>
        <p:nvSpPr>
          <p:cNvPr id="460" name="Google Shape;460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